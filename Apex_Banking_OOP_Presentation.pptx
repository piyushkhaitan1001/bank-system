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d1"/>
    <p:sldId id="257" r:id="rIdSld2"/>
    <p:sldId id="258" r:id="rIdSld3"/>
    <p:sldId id="259" r:id="rIdSld4"/>
    <p:sldId id="260" r:id="rIdSld5"/>
    <p:sldId id="261" r:id="rIdSld6"/>
    <p:sldId id="262" r:id="rIdSld7"/>
    <p:sldId id="263" r:id="rIdSld8"/>
    <p:sldId id="264" r:id="rIdSld9"/>
    <p:sldId id="265" r:id="rIdSld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Sld1" Type="http://schemas.openxmlformats.org/officeDocument/2006/relationships/slide" Target="slides/slide1.xml"/>
  <Relationship Id="rIdSld2" Type="http://schemas.openxmlformats.org/officeDocument/2006/relationships/slide" Target="slides/slide2.xml"/>
  <Relationship Id="rIdSld3" Type="http://schemas.openxmlformats.org/officeDocument/2006/relationships/slide" Target="slides/slide3.xml"/>
  <Relationship Id="rIdSld4" Type="http://schemas.openxmlformats.org/officeDocument/2006/relationships/slide" Target="slides/slide4.xml"/>
  <Relationship Id="rIdSld5" Type="http://schemas.openxmlformats.org/officeDocument/2006/relationships/slide" Target="slides/slide5.xml"/>
  <Relationship Id="rIdSld6" Type="http://schemas.openxmlformats.org/officeDocument/2006/relationships/slide" Target="slides/slide6.xml"/>
  <Relationship Id="rIdSld7" Type="http://schemas.openxmlformats.org/officeDocument/2006/relationships/slide" Target="slides/slide7.xml"/>
  <Relationship Id="rIdSld8" Type="http://schemas.openxmlformats.org/officeDocument/2006/relationships/slide" Target="slides/slide8.xml"/>
  <Relationship Id="rIdSld9" Type="http://schemas.openxmlformats.org/officeDocument/2006/relationships/slide" Target="slides/slide9.xml"/>
  <Relationship Id="rIdSld10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Theme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OBJECT ORIENTED PROGRAMMING • CORE JAVA PROJECT PRESENTATION</a:t></a:r></a:p>
          <a:p><a:r><a:rPr sz="2200" b="1"><a:solidFill><a:srgbClr val="F8FAFC"/></a:solidFill></a:rPr><a:t>Apex Banking Management System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Enterprise Neobank Platform Built Exclusively from First Principles</a:t></a:r></a:p>
          <a:p><a:pPr marL="288000" indent="-288000"><a:buChar char="&#9656;"/></a:pPr><a:r><a:rPr sz="1350"><a:solidFill><a:srgbClr val="F8FAFC"/></a:solidFill></a:rPr><a:t>Lead Presenter: Piyush Khaitan (Registration No: 2026-CS-0412)</a:t></a:r></a:p>
          <a:p><a:pPr marL="288000" indent="-288000"><a:buChar char="&#9656;"/></a:pPr><a:r><a:rPr sz="1350"><a:solidFill><a:srgbClr val="F8FAFC"/></a:solidFill></a:rPr><a:t>Team Member: Project Partner (Registration No: 2026-CS-0413)</a:t></a:r></a:p>
          <a:p><a:pPr marL="288000" indent="-288000"><a:buChar char="&#9656;"/></a:pPr><a:r><a:rPr sz="1350"><a:solidFill><a:srgbClr val="F8FAFC"/></a:solidFill></a:rPr><a:t>Academic Cohort: Section T4 | Date: 27 October 2026</a:t></a:r></a:p>
          <a:p><a:pPr marL="288000" indent="-288000"><a:buChar char="&#9656;"/></a:pPr><a:r><a:rPr sz="1350"><a:solidFill><a:srgbClr val="F8FAFC"/></a:solidFill></a:rPr><a:t>Strict Constraints: Core Java (JDK 17+) Only | Zero External Libraries | Zero Frameworks | Zero SQL Database</a:t></a:r></a:p>
          <a:p><a:pPr marL="288000" indent="-288000"><a:buChar char="&#9656;"/></a:pPr><a:r><a:rPr sz="1350"><a:solidFill><a:srgbClr val="F8FAFC"/></a:solidFill></a:rPr><a:t>7-MINUTE TIMED PRESENTATION • USE THIS COMMON FORMAT FOR ALL PROJECTS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1 OF 10 &bull; OBJECT ORIENTED PROGRAMMING CORE JAVA</a:t></a:r></a:p></p:txBody>
      </p:sp>
    </p:spTree>
  </p:cSld>
  <p:clrMapOvr><a:masterClrMapping/></p:clrMapOvr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01 • PROBLEM STATEMENT &amp; USE CASE</a:t></a:r></a:p>
          <a:p><a:r><a:rPr sz="2200" b="1"><a:solidFill><a:srgbClr val="F8FAFC"/></a:solidFill></a:rPr><a:t>Connecting Software Solutions to Real User Needs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1. What Problem Does the Application Solve?</a:t></a:r></a:p>
          <a:p><a:pPr marL="288000" indent="-288000"><a:buChar char="&#9656;"/></a:pPr><a:r><a:rPr sz="1350"><a:solidFill><a:srgbClr val="F8FAFC"/></a:solidFill></a:rPr><a:t>Eliminates dependency bloat, high memory overhead, and security vulnerabilities of heavy frameworks (Spring Boot, Hibernate).</a:t></a:r></a:p>
          <a:p><a:pPr marL="288000" indent="-288000"><a:buChar char="&#9656;"/></a:pPr><a:r><a:rPr sz="1350"><a:solidFill><a:srgbClr val="F8FAFC"/></a:solidFill></a:rPr><a:t>Proves an industrial-grade neobank can be built with 100% Core Java, native HTTP server, custom cryptography, and CSV storage.</a:t></a:r></a:p>
          <a:p><a:pPr marL="288000" indent="-288000"><a:buChar char="&#9656;"/></a:pPr><a:r><a:rPr sz="1600" b="1"><a:solidFill><a:srgbClr val="38BDF8"/></a:solidFill></a:rPr><a:t>2. Intended Users &amp; Realistic Use Case</a:t></a:r></a:p>
          <a:p><a:pPr marL="288000" indent="-288000"><a:buChar char="&#9656;"/></a:pPr><a:r><a:rPr sz="1350"><a:solidFill><a:srgbClr val="F8FAFC"/></a:solidFill></a:rPr><a:t>Retail Customers (self-service accounts, UPI, transfers) and Bank Staff/Admins (KYC queue, loan disbursal, dispute refunds).</a:t></a:r></a:p>
          <a:p><a:pPr marL="288000" indent="-288000"><a:buChar char="&#9656;"/></a:pPr><a:r><a:rPr sz="1350"><a:solidFill><a:srgbClr val="F8FAFC"/></a:solidFill></a:rPr><a:t>Realistic Use Case: Customer John transfers ₹1,200 to Alice. System triggers a 2-step PIN check, displays high-value OTP, checks reserve balance, mutates balances atomistically, and logs immutable transactions.</a:t></a:r></a:p>
          <a:p><a:pPr marL="288000" indent="-288000"><a:buChar char="&#9656;"/></a:pPr><a:r><a:rPr sz="1600" b="1"><a:solidFill><a:srgbClr val="38BDF8"/></a:solidFill></a:rPr><a:t>3. Clear Objective Statement</a:t></a:r></a:p>
          <a:p><a:pPr marL="288000" indent="-288000"><a:buChar char="&#9656;"/></a:pPr><a:r><a:rPr sz="1350"><a:solidFill><a:srgbClr val="F8FAFC"/></a:solidFill></a:rPr><a:t>&quot;To architect and implement a secure, fully compliant Neobank Management System using strictly Core Java (JDK 17+) and OOP principles, delivering robust transaction processing with zero external dependencies.&quot;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2 OF 10 &bull; OBJECT ORIENTED PROGRAMMING CORE JAVA</a:t></a:r></a:p></p:txBody>
      </p:sp>
    </p:spTree>
  </p:cSld>
  <p:clrMapOvr><a:masterClrMapping/></p:clrMapOvr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02 • OOP DESIGN &amp; ARCHITECTURE</a:t></a:r></a:p>
          <a:p><a:r><a:rPr sz="2200" b="1"><a:solidFill><a:srgbClr val="F8FAFC"/></a:solidFill></a:rPr><a:t>Applying Core Object-Oriented Principles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UML Class Relationships &amp; Domain Hierarchy</a:t></a:r></a:p>
          <a:p><a:pPr marL="288000" indent="-288000"><a:buChar char="&#9656;"/></a:pPr><a:r><a:rPr sz="1350"><a:solidFill><a:srgbClr val="F8FAFC"/></a:solidFill></a:rPr><a:t>Abstract Base Class: Account (accountNumber, holderName, balance, nominee, branchCode)</a:t></a:r></a:p>
          <a:p><a:pPr marL="288000" indent="-288000"><a:buChar char="&#9656;"/></a:pPr><a:r><a:rPr sz="1350"><a:solidFill><a:srgbClr val="F8FAFC"/></a:solidFill></a:rPr><a:t>Inheritance Subclasses: SavingsAccount, CurrentAccount, FixedDepositAccount, RecurringDepositAccount</a:t></a:r></a:p>
          <a:p><a:pPr marL="288000" indent="-288000"><a:buChar char="&#9656;"/></a:pPr><a:r><a:rPr sz="1350"><a:solidFill><a:srgbClr val="F8FAFC"/></a:solidFill></a:rPr><a:t>Interfaces: BankService (business contract) and Storage (persistence abstraction)</a:t></a:r></a:p>
          <a:p><a:pPr marL="288000" indent="-288000"><a:buChar char="&#9656;"/></a:pPr><a:r><a:rPr sz="1350"><a:solidFill><a:srgbClr val="F8FAFC"/></a:solidFill></a:rPr><a:t>Core Implementations: BankServiceImpl (singleton service coordinator) and FileStorage (CSV persistence engine)</a:t></a:r></a:p>
          <a:p><a:pPr marL="288000" indent="-288000"><a:buChar char="&#9656;"/></a:pPr><a:r><a:rPr sz="1600" b="1"><a:solidFill><a:srgbClr val="38BDF8"/></a:solidFill></a:rPr><a:t>Application of 4 OOP Pillars</a:t></a:r></a:p>
          <a:p><a:pPr marL="288000" indent="-288000"><a:buChar char="&#9656;"/></a:pPr><a:r><a:rPr sz="1350"><a:solidFill><a:srgbClr val="F8FAFC"/></a:solidFill></a:rPr><a:t>Abstraction: Account defines abstract calculateInterest(); BankService decouples HTTP layer from business rules.</a:t></a:r></a:p>
          <a:p><a:pPr marL="288000" indent="-288000"><a:buChar char="&#9656;"/></a:pPr><a:r><a:rPr sz="1350"><a:solidFill><a:srgbClr val="F8FAFC"/></a:solidFill></a:rPr><a:t>Inheritance: Four specialized account classes reuse core balance and nominee behaviors without duplication.</a:t></a:r></a:p>
          <a:p><a:pPr marL="288000" indent="-288000"><a:buChar char="&#9656;"/></a:pPr><a:r><a:rPr sz="1350"><a:solidFill><a:srgbClr val="F8FAFC"/></a:solidFill></a:rPr><a:t>Polymorphism: Dynamic method dispatch in calculateInterest() calculates 4% p.a., 0% overdraft, compound FD, or RD installments.</a:t></a:r></a:p>
          <a:p><a:pPr marL="288000" indent="-288000"><a:buChar char="&#9656;"/></a:pPr><a:r><a:rPr sz="1350"><a:solidFill><a:srgbClr val="F8FAFC"/></a:solidFill></a:rPr><a:t>Encapsulation: Strictly private fields across all 15 models with mutating methods deposit() and withdraw() validating minimum reserves.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3 OF 10 &bull; OBJECT ORIENTED PROGRAMMING CORE JAVA</a:t></a:r></a:p></p:txBody>
      </p:sp>
    </p:spTree>
  </p:cSld>
  <p:clrMapOvr><a:masterClrMapping/>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03 • CORE JAVA CONCEPTS USED</a:t></a:r></a:p>
          <a:p><a:r><a:rPr sz="2200" b="1"><a:solidFill><a:srgbClr val="F8FAFC"/></a:solidFill></a:rPr><a:t>Language Features Powering the Implementation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Classes, Modifiers &amp; Custom Exceptions</a:t></a:r></a:p>
          <a:p><a:pPr marL="288000" indent="-288000"><a:buChar char="&#9656;"/></a:pPr><a:r><a:rPr sz="1350"><a:solidFill><a:srgbClr val="F8FAFC"/></a:solidFill></a:rPr><a:t>Custom OOP Exceptions: InsufficientFundsException, AccountFrozenException, InvalidAmountException, DailyLimitExceededException.</a:t></a:r></a:p>
          <a:p><a:pPr marL="288000" indent="-288000"><a:buChar char="&#9656;"/></a:pPr><a:r><a:rPr sz="1350"><a:solidFill><a:srgbClr val="F8FAFC"/></a:solidFill></a:rPr><a:t>Access Modifiers &amp; Constructors: Private fields, public APIs, package-private helpers, explicit constructors with sanitization.</a:t></a:r></a:p>
          <a:p><a:pPr marL="288000" indent="-288000"><a:buChar char="&#9656;"/></a:pPr><a:r><a:rPr sz="1600" b="1"><a:solidFill><a:srgbClr val="38BDF8"/></a:solidFill></a:rPr><a:t>Collections, Concurrency &amp; Security</a:t></a:r></a:p>
          <a:p><a:pPr marL="288000" indent="-288000"><a:buChar char="&#9656;"/></a:pPr><a:r><a:rPr sz="1350"><a:solidFill><a:srgbClr val="F8FAFC"/></a:solidFill></a:rPr><a:t>Collections &amp; Generics: List&lt;Account&gt;, List&lt;Transaction&gt;, Map&lt;String, User&gt;, and ConcurrentHashMap for thread-safe sessions.</a:t></a:r></a:p>
          <a:p><a:pPr marL="288000" indent="-288000"><a:buChar char="&#9656;"/></a:pPr><a:r><a:rPr sz="1350"><a:solidFill><a:srgbClr val="F8FAFC"/></a:solidFill></a:rPr><a:t>Cryptography: SHA-256 via java.security.MessageDigest for hashing customer passwords and 4-digit transaction PINs.</a:t></a:r></a:p>
          <a:p><a:pPr marL="288000" indent="-288000"><a:buChar char="&#9656;"/></a:pPr><a:r><a:rPr sz="1600" b="1"><a:solidFill><a:srgbClr val="38BDF8"/></a:solidFill></a:rPr><a:t>File I/O &amp; Embedded HTTP Engine</a:t></a:r></a:p>
          <a:p><a:pPr marL="288000" indent="-288000"><a:buChar char="&#9656;"/></a:pPr><a:r><a:rPr sz="1350"><a:solidFill><a:srgbClr val="F8FAFC"/></a:solidFill></a:rPr><a:t>File I/O: java.io.BufferedReader and BufferedWriter for high-throughput CSV persistence with auto-directory recovery.</a:t></a:r></a:p>
          <a:p><a:pPr marL="288000" indent="-288000"><a:buChar char="&#9656;"/></a:pPr><a:r><a:rPr sz="1350"><a:solidFill><a:srgbClr val="F8FAFC"/></a:solidFill></a:rPr><a:t>Built-in HTTP Server: com.sun.net.httpserver.HttpServer on port 8080 with custom routing, cookie parsing, and URL decoders.</a:t></a:r></a:p>
          <a:p><a:pPr marL="288000" indent="-288000"><a:buChar char="&#9656;"/></a:pPr><a:r><a:rPr sz="1350"><a:solidFill><a:srgbClr val="F8FAFC"/></a:solidFill></a:rPr><a:t>Code Style: 0 inline comments, 0 switch statements, 0 ternary operators (? :), modular methods strictly under 30 lines.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4 OF 10 &bull; OBJECT ORIENTED PROGRAMMING CORE JAVA</a:t></a:r></a:p></p:txBody>
      </p:sp>
    </p:spTree>
  </p:cSld>
  <p:clrMapOvr><a:masterClrMapping/></p:clrMapOvr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04 • PROGRAM FLOW &amp; IMPLEMENTATION</a:t></a:r></a:p>
          <a:p><a:r><a:rPr sz="2200" b="1"><a:solidFill><a:srgbClr val="F8FAFC"/></a:solidFill></a:rPr><a:t>Logic Design, Algorithms &amp; Implementation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Atomic Money Transfer Flow</a:t></a:r></a:p>
          <a:p><a:pPr marL="288000" indent="-288000"><a:buChar char="&#9656;"/></a:pPr><a:r><a:rPr sz="1350"><a:solidFill><a:srgbClr val="F8FAFC"/></a:solidFill></a:rPr><a:t>1. Client POSTs transfer form with sourceAccount, targetAccount, amount, 4-digit PIN, and OTP.</a:t></a:r></a:p>
          <a:p><a:pPr marL="288000" indent="-288000"><a:buChar char="&#9656;"/></a:pPr><a:r><a:rPr sz="1350"><a:solidFill><a:srgbClr val="F8FAFC"/></a:solidFill></a:rPr><a:t>2. BankServer resolves active session User; delegates to BankServiceImpl.transfer().</a:t></a:r></a:p>
          <a:p><a:pPr marL="288000" indent="-288000"><a:buChar char="&#9656;"/></a:pPr><a:r><a:rPr sz="1350"><a:solidFill><a:srgbClr val="F8FAFC"/></a:solidFill></a:rPr><a:t>3. Verification Phase: Authenticates PIN hash, verifies simulated OTP if amount &gt; ₹1,000, checks daily cumulative cap (₹5,000).</a:t></a:r></a:p>
          <a:p><a:pPr marL="288000" indent="-288000"><a:buChar char="&#9656;"/></a:pPr><a:r><a:rPr sz="1350"><a:solidFill><a:srgbClr val="F8FAFC"/></a:solidFill></a:rPr><a:t>4. Account Validation: Verifies both accounts exist, not frozen, and source satisfies minimum reserve (₹500 Savings or Overdraft).</a:t></a:r></a:p>
          <a:p><a:pPr marL="288000" indent="-288000"><a:buChar char="&#9656;"/></a:pPr><a:r><a:rPr sz="1350"><a:solidFill><a:srgbClr val="F8FAFC"/></a:solidFill></a:rPr><a:t>5. Atomic Execution: source.withdraw(amount) + target.deposit(amount) executed inside synchronized method.</a:t></a:r></a:p>
          <a:p><a:pPr marL="288000" indent="-288000"><a:buChar char="&#9656;"/></a:pPr><a:r><a:rPr sz="1350"><a:solidFill><a:srgbClr val="F8FAFC"/></a:solidFill></a:rPr><a:t>6. Ledger &amp; Persistence: Appends 2 immutable Transaction records and flushes updated accounts to CSV on disk.</a:t></a:r></a:p>
          <a:p><a:pPr marL="288000" indent="-288000"><a:buChar char="&#9656;"/></a:pPr><a:r><a:rPr sz="1600" b="1"><a:solidFill><a:srgbClr val="38BDF8"/></a:solidFill></a:rPr><a:t>Key Logic Decision &amp; Algorithm</a:t></a:r></a:p>
          <a:p><a:pPr marL="288000" indent="-288000"><a:buChar char="&#9656;"/></a:pPr><a:r><a:rPr sz="1350"><a:solidFill><a:srgbClr val="F8FAFC"/></a:solidFill></a:rPr><a:t>All preconditions evaluated before any state mutation; failure at any step throws a custom exception leaving balances 100% intact.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5 OF 10 &bull; OBJECT ORIENTED PROGRAMMING CORE JAVA</a:t></a:r></a:p></p:txBody>
      </p:sp>
    </p:spTree>
  </p:cSld>
  <p:clrMapOvr><a:masterClrMapping/></p:clrMapOvr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05 • APPLICATION DEMONSTRATION</a:t></a:r></a:p>
          <a:p><a:r><a:rPr sz="2200" b="1"><a:solidFill><a:srgbClr val="F8FAFC"/></a:solidFill></a:rPr><a:t>Live Showcase of Working Banking System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Feature 1: Customer Neobank Portal &amp; Transfers Hub</a:t></a:r></a:p>
          <a:p><a:pPr marL="288000" indent="-288000"><a:buChar char="&#9656;"/></a:pPr><a:r><a:rPr sz="1350"><a:solidFill><a:srgbClr val="F8FAFC"/></a:solidFill></a:rPr><a:t>1-Click Live Demo Quick Switcher (toggle Admin, Manager, Teller, John, Alice) &amp; Hero Card with KYC status.</a:t></a:r></a:p>
          <a:p><a:pPr marL="288000" indent="-288000"><a:buChar char="&#9656;"/></a:pPr><a:r><a:rPr sz="1350"><a:solidFill><a:srgbClr val="F8FAFC"/></a:solidFill></a:rPr><a:t>Transfers Hub with 6 isolated sub-tabs: Direct Transfer, UPI Instant Pay (user@apex), Beneficiaries, Bills, Standing Instructions, FX.</a:t></a:r></a:p>
          <a:p><a:pPr marL="288000" indent="-288000"><a:buChar char="&#9656;"/></a:pPr><a:r><a:rPr sz="1350"><a:solidFill><a:srgbClr val="F8FAFC"/></a:solidFill></a:rPr><a:t>Live execution of 2-step PIN transfer + simulated on-screen high-value OTP challenge banner.</a:t></a:r></a:p>
          <a:p><a:pPr marL="288000" indent="-288000"><a:buChar char="&#9656;"/></a:pPr><a:r><a:rPr sz="1600" b="1"><a:solidFill><a:srgbClr val="38BDF8"/></a:solidFill></a:rPr><a:t>Feature 2: Cards, Deposits &amp; Customer Hub</a:t></a:r></a:p>
          <a:p><a:pPr marL="288000" indent="-288000"><a:buChar char="&#9656;"/></a:pPr><a:r><a:rPr sz="1350"><a:solidFill><a:srgbClr val="F8FAFC"/></a:solidFill></a:rPr><a:t>Virtual EMV Debit Card controls with daily spending limit setter and instant 1-click Freeze lock.</a:t></a:r></a:p>
          <a:p><a:pPr marL="288000" indent="-288000"><a:buChar char="&#9656;"/></a:pPr><a:r><a:rPr sz="1350"><a:solidFill><a:srgbClr val="F8FAFC"/></a:solidFill></a:rPr><a:t>Booking Fixed Deposit vaults with automatic maturity calculation (up to 8.0% p.a.) and nominee registration.</a:t></a:r></a:p>
          <a:p><a:pPr marL="288000" indent="-288000"><a:buChar char="&#9656;"/></a:pPr><a:r><a:rPr sz="1350"><a:solidFill><a:srgbClr val="F8FAFC"/></a:solidFill></a:rPr><a:t>Customer Hub: Savings goals progress percentage bars and categorized monthly expense breakdown.</a:t></a:r></a:p>
          <a:p><a:pPr marL="288000" indent="-288000"><a:buChar char="&#9656;"/></a:pPr><a:r><a:rPr sz="1600" b="1"><a:solidFill><a:srgbClr val="38BDF8"/></a:solidFill></a:rPr><a:t>Feature 3: Staff Administration Portal (/admin)</a:t></a:r></a:p>
          <a:p><a:pPr marL="288000" indent="-288000"><a:buChar char="&#9656;"/></a:pPr><a:r><a:rPr sz="1350"><a:solidFill><a:srgbClr val="F8FAFC"/></a:solidFill></a:rPr><a:t>Live SVG Analytics Chart comparing Deposits vs. Withdrawals rendered natively without external JS.</a:t></a:r></a:p>
          <a:p><a:pPr marL="288000" indent="-288000"><a:buChar char="&#9656;"/></a:pPr><a:r><a:rPr sz="1350"><a:solidFill><a:srgbClr val="F8FAFC"/></a:solidFill></a:rPr><a:t>KYC Document Queue: 1-click Approve/Reject review for submitted identity documents.</a:t></a:r></a:p>
          <a:p><a:pPr marL="288000" indent="-288000"><a:buChar char="&#9656;"/></a:pPr><a:r><a:rPr sz="1350"><a:solidFill><a:srgbClr val="F8FAFC"/></a:solidFill></a:rPr><a:t>Loan amortization queue with EMI calculator and batch monthly savings interest run.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6 OF 10 &bull; OBJECT ORIENTED PROGRAMMING CORE JAVA</a:t></a:r></a:p></p:txBody>
      </p:sp>
    </p:spTree>
  </p:cSld>
  <p:clrMapOvr><a:masterClrMapping/></p:clrMapOvr>
</p:sld>
</file>

<file path=ppt/slides/slide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06 • TESTING, RESULTS &amp; LIMITATIONS</a:t></a:r></a:p>
          <a:p><a:r><a:rPr sz="2200" b="1"><a:solidFill><a:srgbClr val="F8FAFC"/></a:solidFill></a:rPr><a:t>Quality Assurance, Verification &amp; Constraints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Test Case 1: Minimum Balance Guard (PASSED)</a:t></a:r></a:p>
          <a:p><a:pPr marL="288000" indent="-288000"><a:buChar char="&#9656;"/></a:pPr><a:r><a:rPr sz="1350"><a:solidFill><a:srgbClr val="F8FAFC"/></a:solidFill></a:rPr><a:t>Input: Transfer ₹1,100 from Savings ACC1001 (Balance: ₹1,500, Min: ₹500).</a:t></a:r></a:p>
          <a:p><a:pPr marL="288000" indent="-288000"><a:buChar char="&#9656;"/></a:pPr><a:r><a:rPr sz="1350"><a:solidFill><a:srgbClr val="F8FAFC"/></a:solidFill></a:rPr><a:t>Result: InsufficientFundsException thrown; transfer rejected; ₹1,500 balance remains completely intact.</a:t></a:r></a:p>
          <a:p><a:pPr marL="288000" indent="-288000"><a:buChar char="&#9656;"/></a:pPr><a:r><a:rPr sz="1600" b="1"><a:solidFill><a:srgbClr val="38BDF8"/></a:solidFill></a:rPr><a:t>Test Case 2: Brute-Force Authentication Lockout (PASSED)</a:t></a:r></a:p>
          <a:p><a:pPr marL="288000" indent="-288000"><a:buChar char="&#9656;"/></a:pPr><a:r><a:rPr sz="1350"><a:solidFill><a:srgbClr val="F8FAFC"/></a:solidFill></a:rPr><a:t>Input: Enter 3 consecutive incorrect passwords on customer account john.</a:t></a:r></a:p>
          <a:p><a:pPr marL="288000" indent="-288000"><a:buChar char="&#9656;"/></a:pPr><a:r><a:rPr sz="1350"><a:solidFill><a:srgbClr val="F8FAFC"/></a:solidFill></a:rPr><a:t>Result: User account automatically flagged isLocked = true; all further attempts rejected until Admin unlocks.</a:t></a:r></a:p>
          <a:p><a:pPr marL="288000" indent="-288000"><a:buChar char="&#9656;"/></a:pPr><a:r><a:rPr sz="1600" b="1"><a:solidFill><a:srgbClr val="38BDF8"/></a:solidFill></a:rPr><a:t>Test Case 3: High-Value Transfer OTP Challenge (PASSED)</a:t></a:r></a:p>
          <a:p><a:pPr marL="288000" indent="-288000"><a:buChar char="&#9656;"/></a:pPr><a:r><a:rPr sz="1350"><a:solidFill><a:srgbClr val="F8FAFC"/></a:solidFill></a:rPr><a:t>Input: Submit transfer &gt; ₹1,000 without entering simulated on-screen OTP.</a:t></a:r></a:p>
          <a:p><a:pPr marL="288000" indent="-288000"><a:buChar char="&#9656;"/></a:pPr><a:r><a:rPr sz="1350"><a:solidFill><a:srgbClr val="F8FAFC"/></a:solidFill></a:rPr><a:t>Result: Transfer paused; OTP challenge banner displayed; entering matching 6-digit code executes safely.</a:t></a:r></a:p>
          <a:p><a:pPr marL="288000" indent="-288000"><a:buChar char="&#9656;"/></a:pPr><a:r><a:rPr sz="1600" b="1"><a:solidFill><a:srgbClr val="38BDF8"/></a:solidFill></a:rPr><a:t>Current Limitations</a:t></a:r></a:p>
          <a:p><a:pPr marL="288000" indent="-288000"><a:buChar char="&#9656;"/></a:pPr><a:r><a:rPr sz="1350"><a:solidFill><a:srgbClr val="F8FAFC"/></a:solidFill></a:rPr><a:t>CSV File I/O is optimized for single-node applications; not intended for high-concurrency clustered servers.</a:t></a:r></a:p>
          <a:p><a:pPr marL="288000" indent="-288000"><a:buChar char="&#9656;"/></a:pPr><a:r><a:rPr sz="1350"><a:solidFill><a:srgbClr val="F8FAFC"/></a:solidFill></a:rPr><a:t>In-memory session tokens reset on server restart (all persistent financial data in CSV is permanent).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7 OF 10 &bull; OBJECT ORIENTED PROGRAMMING CORE JAVA</a:t></a:r></a:p></p:txBody>
      </p:sp>
    </p:spTree>
  </p:cSld>
  <p:clrMapOvr><a:masterClrMapping/></p:clrMapOvr>
</p:sld>
</file>

<file path=ppt/slides/slide8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07 • WRAP-UP &amp; FUTURE ENHANCEMENTS</a:t></a:r></a:p>
          <a:p><a:r><a:rPr sz="2200" b="1"><a:solidFill><a:srgbClr val="F8FAFC"/></a:solidFill></a:rPr><a:t>Summary of Learning, Outcomes &amp; Takeaway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What the Application Achieves</a:t></a:r></a:p>
          <a:p><a:pPr marL="288000" indent="-288000"><a:buChar char="&#9656;"/></a:pPr><a:r><a:rPr sz="1350"><a:solidFill><a:srgbClr val="F8FAFC"/></a:solidFill></a:rPr><a:t>Engineered a complete, professional, zero-framework Neobank Management System powered entirely by standard Core Java (JDK 17+).</a:t></a:r></a:p>
          <a:p><a:pPr marL="288000" indent="-288000"><a:buChar char="&#9656;"/></a:pPr><a:r><a:rPr sz="1350"><a:solidFill><a:srgbClr val="F8FAFC"/></a:solidFill></a:rPr><a:t>Delivered multi-tier accounts, atomic 2-step PIN transfers, instant UPI, loan amortization, virtual cards, KYC, and staff administration.</a:t></a:r></a:p>
          <a:p><a:pPr marL="288000" indent="-288000"><a:buChar char="&#9656;"/></a:pPr><a:r><a:rPr sz="1600" b="1"><a:solidFill><a:srgbClr val="38BDF8"/></a:solidFill></a:rPr><a:t>Primary OOP Concept Mastered</a:t></a:r></a:p>
          <a:p><a:pPr marL="288000" indent="-288000"><a:buChar char="&#9656;"/></a:pPr><a:r><a:rPr sz="1350"><a:solidFill><a:srgbClr val="F8FAFC"/></a:solidFill></a:rPr><a:t>Polymorphic Domain Modeling &amp; Layered Abstraction: Demonstrating how abstract contracts (Account, BankService, Storage) cleanly isolate business logic from presentation and disk serialization.</a:t></a:r></a:p>
          <a:p><a:pPr marL="288000" indent="-288000"><a:buChar char="&#9656;"/></a:pPr><a:r><a:rPr sz="1600" b="1"><a:solidFill><a:srgbClr val="38BDF8"/></a:solidFill></a:rPr><a:t>Realistic Future Enhancements</a:t></a:r></a:p>
          <a:p><a:pPr marL="288000" indent="-288000"><a:buChar char="&#9656;"/></a:pPr><a:r><a:rPr sz="1350"><a:solidFill><a:srgbClr val="F8FAFC"/></a:solidFill></a:rPr><a:t>JDBC Relational Database: Plug in PostgreSQL or SQLite via the Storage interface without changing business logic.</a:t></a:r></a:p>
          <a:p><a:pPr marL="288000" indent="-288000"><a:buChar char="&#9656;"/></a:pPr><a:r><a:rPr sz="1350"><a:solidFill><a:srgbClr val="F8FAFC"/></a:solidFill></a:rPr><a:t>TLS/HTTPS &amp; Biometrics: Upgrade server to HttpsServer with SSL/TLS certificates and FIDO2 WebAuthn biometric security.</a:t></a:r></a:p>
          <a:p><a:pPr marL="288000" indent="-288000"><a:buChar char="&#9656;"/></a:pPr><a:r><a:rPr sz="1600" b="1"><a:solidFill><a:srgbClr val="38BDF8"/></a:solidFill></a:rPr><a:t>Final Core Java Takeaway</a:t></a:r></a:p>
          <a:p><a:pPr marL="288000" indent="-288000"><a:buChar char="&#9656;"/></a:pPr><a:r><a:rPr sz="1350"><a:solidFill><a:srgbClr val="F8FAFC"/></a:solidFill></a:rPr><a:t>&quot;Core Java&apos;s standard library, when paired with disciplined object-oriented architecture, provides all the necessary power to construct secure, resilient, and enterprise-grade financial software from pure first principles.&quot;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8 OF 10 &bull; OBJECT ORIENTED PROGRAMMING CORE JAVA</a:t></a:r></a:p></p:txBody>
      </p:sp>
    </p:spTree>
  </p:cSld>
  <p:clrMapOvr><a:masterClrMapping/></p:clrMapOvr>
</p:sld>
</file>

<file path=ppt/slides/slide9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PRESENTATION TIMING BREAKDOWN</a:t></a:r></a:p>
          <a:p><a:r><a:rPr sz="2200" b="1"><a:solidFill><a:srgbClr val="F8FAFC"/></a:solidFill></a:rPr><a:t>Suggested 7-Minute Presentation Flow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Pacing &amp; Speaker Timeline (420 Seconds Total)</a:t></a:r></a:p>
          <a:p><a:pPr marL="288000" indent="-288000"><a:buChar char="&#9656;"/></a:pPr><a:r><a:rPr sz="1350"><a:solidFill><a:srgbClr val="F8FAFC"/></a:solidFill></a:rPr><a:t>1. Problem Statement &amp; Realistic Use Case: 40 sec (Framework bloat, John&apos;s transfer scenario, 1-sentence objective)</a:t></a:r></a:p>
          <a:p><a:pPr marL="288000" indent="-288000"><a:buChar char="&#9656;"/></a:pPr><a:r><a:rPr sz="1350"><a:solidFill><a:srgbClr val="F8FAFC"/></a:solidFill></a:rPr><a:t>2. OOP Design &amp; UML Class Diagram: 60 sec (Account hierarchy, BankService &amp; Storage interfaces, 4 OOP pillars)</a:t></a:r></a:p>
          <a:p><a:pPr marL="288000" indent="-288000"><a:buChar char="&#9656;"/></a:pPr><a:r><a:rPr sz="1350"><a:solidFill><a:srgbClr val="F8FAFC"/></a:solidFill></a:rPr><a:t>3. Core Java Language Features: 60 sec (Custom exceptions, CSV File I/O, collections, SHA-256 MessageDigest)</a:t></a:r></a:p>
          <a:p><a:pPr marL="288000" indent="-288000"><a:buChar char="&#9656;"/></a:pPr><a:r><a:rPr sz="1350"><a:solidFill><a:srgbClr val="F8FAFC"/></a:solidFill></a:rPr><a:t>4. Program Flow &amp; Implementation: 60 sec (Atomic transfer sequence, 2-step PIN/OTP algorithm, code snippet)</a:t></a:r></a:p>
          <a:p><a:pPr marL="288000" indent="-288000"><a:buChar char="&#9656;"/></a:pPr><a:r><a:rPr sz="1350"><a:solidFill><a:srgbClr val="F8FAFC"/></a:solidFill></a:rPr><a:t>5. Live Application Demonstration: 100 sec (Customer login, transfers sub-tabs, open FD, staff portal &amp; SVG chart)</a:t></a:r></a:p>
          <a:p><a:pPr marL="288000" indent="-288000"><a:buChar char="&#9656;"/></a:pPr><a:r><a:rPr sz="1350"><a:solidFill><a:srgbClr val="F8FAFC"/></a:solidFill></a:rPr><a:t>6. Testing Results &amp; Limitations: 40 sec (Minimum balance exception, account lockout, OTP challenge, limitations)</a:t></a:r></a:p>
          <a:p><a:pPr marL="288000" indent="-288000"><a:buChar char="&#9656;"/></a:pPr><a:r><a:rPr sz="1350"><a:solidFill><a:srgbClr val="F8FAFC"/></a:solidFill></a:rPr><a:t>7. Conclusion &amp; Takeaway: 20 sec (Summary of outcomes, primary concept mastered, future enhancements)</a:t></a:r></a:p>
          <a:p><a:pPr marL="288000" indent="-288000"><a:buChar char="&#9656;"/></a:pPr><a:r><a:rPr sz="1350"><a:solidFill><a:srgbClr val="F8FAFC"/></a:solidFill></a:rPr><a:t>Q&amp;A Buffer: 40 sec (Dedicated time for evaluator inquiries and architectural justification)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9 OF 10 &bull; OBJECT ORIENTED PROGRAMMING CORE JAVA</a:t></a:r></a:p></p:txBody>
      </p:sp>
    </p:spTree>
  </p:cSld>
  <p:clrMapOvr><a:masterClrMapping/></p:clrMapOvr>
</p:sld>
</file>

<file path=ppt/slides/slide10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Background"/><p:cNvSpPr><a:spLocks noGrp="1"/></p:cNvSpPr><p:nvPr/></p:nvSpPr>
        <p:spPr><a:xfrm><a:off x="0" y="0"/><a:ext cx="12192000" cy="6858000"/></a:xfrm><a:prstGeom prst="rect"><a:avLst/></a:prstGeom><a:solidFill><a:srgbClr val="0E1726"/></a:solidFill></p:spPr>
      </p:sp>
      <p:sp>
        <p:nvSpPr><p:cNvPr id="3" name="HeaderCard"/><p:cNvSpPr/><p:nvPr/></p:nvSpPr>
        <p:spPr><a:xfrm><a:off x="609600" y="457200"/><a:ext cx="10972800" cy="1143000"/></a:xfrm><a:prstGeom prst="roundRect"><a:avLst><a:gd name="adj" fmla="val 8000"/></a:avLst></p:prstGeom><a:solidFill><a:srgbClr val="142036"/></a:solidFill><a:ln w="19050"><a:solidFill><a:srgbClr val="1E293B"/></a:solidFill></a:ln></p:spPr>
        <p:txBody><a:bodyPr lIns="274320" tIns="137160" rIns="274320" bIns="137160"/><a:lstStyle/>
          <a:p><a:r><a:rPr sz="1300" b="1"><a:solidFill><a:srgbClr val="10B981"/></a:solidFill></a:rPr><a:t>FINAL EVALUATION CHECKLIST</a:t></a:r></a:p>
          <a:p><a:r><a:rPr sz="2200" b="1"><a:solidFill><a:srgbClr val="F8FAFC"/></a:solidFill></a:rPr><a:t>Pre-Presentation Readiness Verification</a:t></a:r></a:p>
        </p:txBody>
      </p:sp>
      <p:sp>
        <p:nvSpPr><p:cNvPr id="4" name="ContentCard"/><p:cNvSpPr/><p:nvPr/></p:nvSpPr>
        <p:spPr><a:xfrm><a:off x="609600" y="1828800"/><a:ext cx="10972800" cy="4389120"/></a:xfrm><a:prstGeom prst="roundRect"><a:avLst><a:gd name="adj" fmla="val 8000"/></a:avLst></p:prstGeom><a:solidFill><a:srgbClr val="142036"/></a:solidFill><a:ln w="19050"><a:solidFill><a:srgbClr val="1E293B"/></a:solidFill></a:ln></p:spPr>
        <p:txBody><a:bodyPr lIns="365760" tIns="274320" rIns="365760" bIns="274320"/><a:lstStyle/>
          <a:p><a:pPr marL="288000" indent="-288000"><a:buChar char="&#9656;"/></a:pPr><a:r><a:rPr sz="1600" b="1"><a:solidFill><a:srgbClr val="38BDF8"/></a:solidFill></a:rPr><a:t>Technical Readiness Check</a:t></a:r></a:p>
          <a:p><a:pPr marL="288000" indent="-288000"><a:buChar char="&#9656;"/></a:pPr><a:r><a:rPr sz="1350"><a:solidFill><a:srgbClr val="F8FAFC"/></a:solidFill></a:rPr><a:t>Clean Compilation: Codebase compiles with zero warnings: javac -d out $(find src -name &quot;*.java&quot;)</a:t></a:r></a:p>
          <a:p><a:pPr marL="288000" indent="-288000"><a:buChar char="&#9656;"/></a:pPr><a:r><a:rPr sz="1350"><a:solidFill><a:srgbClr val="F8FAFC"/></a:solidFill></a:rPr><a:t>Server Boot: Runs natively on http://localhost:8080 via java -cp out com.bank.Main</a:t></a:r></a:p>
          <a:p><a:pPr marL="288000" indent="-288000"><a:buChar char="&#9656;"/></a:pPr><a:r><a:rPr sz="1350"><a:solidFill><a:srgbClr val="F8FAFC"/></a:solidFill></a:rPr><a:t>Pre-Seeded Test Credentials Ready: Admin (admin / admin123), Customers (john / password123, alice / password123)</a:t></a:r></a:p>
          <a:p><a:pPr marL="288000" indent="-288000"><a:buChar char="&#9656;"/></a:pPr><a:r><a:rPr sz="1350"><a:solidFill><a:srgbClr val="F8FAFC"/></a:solidFill></a:rPr><a:t>Backup Visuals: Presentation HTML slide deck and high-res screenshots ready offline.</a:t></a:r></a:p>
          <a:p><a:pPr marL="288000" indent="-288000"><a:buChar char="&#9656;"/></a:pPr><a:r><a:rPr sz="1600" b="1"><a:solidFill><a:srgbClr val="38BDF8"/></a:solidFill></a:rPr><a:t>OOP &amp; Java Mastery Check</a:t></a:r></a:p>
          <a:p><a:pPr marL="288000" indent="-288000"><a:buChar char="&#9656;"/></a:pPr><a:r><a:rPr sz="1350"><a:solidFill><a:srgbClr val="F8FAFC"/></a:solidFill></a:rPr><a:t>Can explain responsibilities of Account, SavingsAccount, CurrentAccount, FixedDepositAccount, RecurringDepositAccount.</a:t></a:r></a:p>
          <a:p><a:pPr marL="288000" indent="-288000"><a:buChar char="&#9656;"/></a:pPr><a:r><a:rPr sz="1350"><a:solidFill><a:srgbClr val="F8FAFC"/></a:solidFill></a:rPr><a:t>Can justify why BankService and Storage are interfaces (loose coupling and testability).</a:t></a:r></a:p>
          <a:p><a:pPr marL="288000" indent="-288000"><a:buChar char="&#9656;"/></a:pPr><a:r><a:rPr sz="1350"><a:solidFill><a:srgbClr val="F8FAFC"/></a:solidFill></a:rPr><a:t>Can demonstrate dynamic method dispatch in calculateInterest() across all account types.</a:t></a:r></a:p>
          <a:p><a:pPr marL="288000" indent="-288000"><a:buChar char="&#9656;"/></a:pPr><a:r><a:rPr sz="1350"><a:solidFill><a:srgbClr val="F8FAFC"/></a:solidFill></a:rPr><a:t>Can explain custom exception handling (InsufficientFundsException, AccountFrozenException).</a:t></a:r></a:p>
          <a:p><a:pPr marL="288000" indent="-288000"><a:buChar char="&#9656;"/></a:pPr><a:r><a:rPr sz="1350"><a:solidFill><a:srgbClr val="F8FAFC"/></a:solidFill></a:rPr><a:t>Both team members fully prepared to field questions on backend design, security, and UI rendering.</a:t></a:r></a:p>
        </p:txBody>
      </p:sp>
      <p:sp>
        <p:nvSpPr><p:cNvPr id="5" name="Footer"/><p:cNvSpPr/><p:nvPr/></p:nvSpPr>
        <p:spPr><a:xfrm><a:off x="609600" y="6324600"/><a:ext cx="10972800" cy="381000"/></a:xfrm><a:prstGeom prst="rect"/></p:spPr>
        <p:txBody><a:bodyPr/><a:lstStyle/><a:p><a:r><a:rPr sz="1000" b="1"><a:solidFill><a:srgbClr val="64748B"/></a:solidFill></a:rPr><a:t>APEX BANKING ENTERPRISE &bull; SECTION T4 &bull; SLIDE 10 OF 10 &bull; OBJECT ORIENTED PROGRAMMING CORE JAVA</a:t></a:r></a:p></p:txBody>
      </p:sp>
    </p:spTree>
  </p:cSld>
  <p:clrMapOvr><a:masterClrMapping/></p:clrMapOvr>
</p:sld>
</file>

<file path=ppt/theme/theme1.xml><?xml version="1.0" encoding="utf-8"?>
<a:theme xmlns:a="http://schemas.openxmlformats.org/drawingml/2006/main" name="Apex Theme">
  <a:themeElements>
    <a:clrScheme name="ApexScheme">
      <a:dk1>
        <a:srgbClr val="0E1726"/>
      </a:dk1>
      <a:lt1>
        <a:srgbClr val="FFFFFF"/>
      </a:lt1>
      <a:dk2>
        <a:srgbClr val="1E293B"/>
      </a:dk2>
      <a:lt2>
        <a:srgbClr val="F8FAFC"/>
      </a:lt2>
      <a:accent1>
        <a:srgbClr val="10B981"/>
      </a:accent1>
      <a:accent2>
        <a:srgbClr val="06B6D4"/>
      </a:accent2>
      <a:accent3>
        <a:srgbClr val="8B5CF6"/>
      </a:accent3>
      <a:accent4>
        <a:srgbClr val="F59E0B"/>
      </a:accent4>
      <a:accent5>
        <a:srgbClr val="EF4444"/>
      </a:accent5>
      <a:accent6>
        <a:srgbClr val="64748B"/>
      </a:accent6>
      <a:hlink>
        <a:srgbClr val="10B981"/>
      </a:hlink>
      <a:folHlink>
        <a:srgbClr val="059669"/>
      </a:folHlink>
    </a:clrScheme>
    <a:fontScheme name="ApexFont">
      <a:majorFont>
        <a:latin typeface="Segoe UI"/>
      </a:majorFont>
      <a:minorFont>
        <a:latin typeface="Segoe UI"/>
      </a:minorFont>
    </a:fontScheme>
    <a:fmtScheme name="Apex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